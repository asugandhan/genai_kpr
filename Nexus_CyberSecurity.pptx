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0"/>
    </p:embeddedFont>
    <p:embeddedFont>
      <p:font typeface="Cy Grotesk Wide Semi-Bold" panose="020B0604020202020204" charset="0"/>
      <p:regular r:id="rId11"/>
    </p:embeddedFont>
    <p:embeddedFont>
      <p:font typeface="Horizon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Sugandhan/GenAI_KPR" TargetMode="External"/><Relationship Id="rId13" Type="http://schemas.openxmlformats.org/officeDocument/2006/relationships/hyperlink" Target="https://www.nist.gov/publications/zero-trust-architecture" TargetMode="External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12" Type="http://schemas.openxmlformats.org/officeDocument/2006/relationships/hyperlink" Target="https://attack.mitre.org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https://xgboost.readthedocs.io/" TargetMode="External"/><Relationship Id="rId5" Type="http://schemas.openxmlformats.org/officeDocument/2006/relationships/image" Target="../media/image18.svg"/><Relationship Id="rId15" Type="http://schemas.openxmlformats.org/officeDocument/2006/relationships/hyperlink" Target="https://nextjs.org/docs" TargetMode="External"/><Relationship Id="rId10" Type="http://schemas.openxmlformats.org/officeDocument/2006/relationships/hyperlink" Target="https://docs.anthropic.com/" TargetMode="External"/><Relationship Id="rId4" Type="http://schemas.openxmlformats.org/officeDocument/2006/relationships/image" Target="../media/image17.png"/><Relationship Id="rId9" Type="http://schemas.openxmlformats.org/officeDocument/2006/relationships/hyperlink" Target="https://research.unsw.edu.au/projects/unsw-nb15-dataset" TargetMode="External"/><Relationship Id="rId14" Type="http://schemas.openxmlformats.org/officeDocument/2006/relationships/hyperlink" Target="https://fastapi.tiangolo.com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png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12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18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6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84300" y="519147"/>
            <a:ext cx="17447434" cy="1973484"/>
            <a:chOff x="0" y="0"/>
            <a:chExt cx="4351475" cy="4921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1475" cy="492196"/>
            </a:xfrm>
            <a:custGeom>
              <a:avLst/>
              <a:gdLst/>
              <a:ahLst/>
              <a:cxnLst/>
              <a:rect l="l" t="t" r="r" b="b"/>
              <a:pathLst>
                <a:path w="4351475" h="492196">
                  <a:moveTo>
                    <a:pt x="44373" y="0"/>
                  </a:moveTo>
                  <a:lnTo>
                    <a:pt x="4307102" y="0"/>
                  </a:lnTo>
                  <a:cubicBezTo>
                    <a:pt x="4318870" y="0"/>
                    <a:pt x="4330157" y="4675"/>
                    <a:pt x="4338479" y="12997"/>
                  </a:cubicBezTo>
                  <a:cubicBezTo>
                    <a:pt x="4346800" y="21318"/>
                    <a:pt x="4351475" y="32604"/>
                    <a:pt x="4351475" y="44373"/>
                  </a:cubicBezTo>
                  <a:lnTo>
                    <a:pt x="4351475" y="447824"/>
                  </a:lnTo>
                  <a:cubicBezTo>
                    <a:pt x="4351475" y="459592"/>
                    <a:pt x="4346800" y="470878"/>
                    <a:pt x="4338479" y="479200"/>
                  </a:cubicBezTo>
                  <a:cubicBezTo>
                    <a:pt x="4330157" y="487522"/>
                    <a:pt x="4318870" y="492196"/>
                    <a:pt x="4307102" y="492196"/>
                  </a:cubicBezTo>
                  <a:lnTo>
                    <a:pt x="44373" y="492196"/>
                  </a:lnTo>
                  <a:cubicBezTo>
                    <a:pt x="32604" y="492196"/>
                    <a:pt x="21318" y="487522"/>
                    <a:pt x="12997" y="479200"/>
                  </a:cubicBezTo>
                  <a:cubicBezTo>
                    <a:pt x="4675" y="470878"/>
                    <a:pt x="0" y="459592"/>
                    <a:pt x="0" y="447824"/>
                  </a:cubicBezTo>
                  <a:lnTo>
                    <a:pt x="0" y="44373"/>
                  </a:lnTo>
                  <a:cubicBezTo>
                    <a:pt x="0" y="32604"/>
                    <a:pt x="4675" y="21318"/>
                    <a:pt x="12997" y="12997"/>
                  </a:cubicBezTo>
                  <a:cubicBezTo>
                    <a:pt x="21318" y="4675"/>
                    <a:pt x="32604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  <a:ln w="38100" cap="rnd">
              <a:solidFill>
                <a:srgbClr val="E47F42">
                  <a:alpha val="3490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51475" cy="539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811385" y="519147"/>
            <a:ext cx="2218659" cy="1890160"/>
          </a:xfrm>
          <a:custGeom>
            <a:avLst/>
            <a:gdLst/>
            <a:ahLst/>
            <a:cxnLst/>
            <a:rect l="l" t="t" r="r" b="b"/>
            <a:pathLst>
              <a:path w="2218659" h="1890160">
                <a:moveTo>
                  <a:pt x="0" y="0"/>
                </a:moveTo>
                <a:lnTo>
                  <a:pt x="2218659" y="0"/>
                </a:lnTo>
                <a:lnTo>
                  <a:pt x="2218659" y="1890160"/>
                </a:lnTo>
                <a:lnTo>
                  <a:pt x="0" y="1890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256819" y="860541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759341" y="1091192"/>
            <a:ext cx="1105101" cy="771461"/>
          </a:xfrm>
          <a:custGeom>
            <a:avLst/>
            <a:gdLst/>
            <a:ahLst/>
            <a:cxnLst/>
            <a:rect l="l" t="t" r="r" b="b"/>
            <a:pathLst>
              <a:path w="1105101" h="771461">
                <a:moveTo>
                  <a:pt x="0" y="0"/>
                </a:moveTo>
                <a:lnTo>
                  <a:pt x="1105101" y="0"/>
                </a:lnTo>
                <a:lnTo>
                  <a:pt x="1105101" y="771461"/>
                </a:lnTo>
                <a:lnTo>
                  <a:pt x="0" y="771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642" r="-63095" b="-479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118029" y="735088"/>
            <a:ext cx="1677177" cy="1674219"/>
          </a:xfrm>
          <a:custGeom>
            <a:avLst/>
            <a:gdLst/>
            <a:ahLst/>
            <a:cxnLst/>
            <a:rect l="l" t="t" r="r" b="b"/>
            <a:pathLst>
              <a:path w="1677177" h="1674219">
                <a:moveTo>
                  <a:pt x="0" y="0"/>
                </a:moveTo>
                <a:lnTo>
                  <a:pt x="1677178" y="0"/>
                </a:lnTo>
                <a:lnTo>
                  <a:pt x="1677178" y="1674219"/>
                </a:lnTo>
                <a:lnTo>
                  <a:pt x="0" y="1674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6" t="-507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387725" y="3950854"/>
            <a:ext cx="9571518" cy="52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6"/>
              </a:lnSpc>
            </a:pPr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4811007" y="2523607"/>
            <a:ext cx="9607353" cy="3531362"/>
            <a:chOff x="0" y="0"/>
            <a:chExt cx="12809803" cy="4708482"/>
          </a:xfrm>
        </p:grpSpPr>
        <p:sp>
          <p:nvSpPr>
            <p:cNvPr id="12" name="Freeform 12"/>
            <p:cNvSpPr/>
            <p:nvPr/>
          </p:nvSpPr>
          <p:spPr>
            <a:xfrm>
              <a:off x="0" y="181125"/>
              <a:ext cx="4696902" cy="4346233"/>
            </a:xfrm>
            <a:custGeom>
              <a:avLst/>
              <a:gdLst/>
              <a:ahLst/>
              <a:cxnLst/>
              <a:rect l="l" t="t" r="r" b="b"/>
              <a:pathLst>
                <a:path w="4696902" h="4346233">
                  <a:moveTo>
                    <a:pt x="0" y="0"/>
                  </a:moveTo>
                  <a:lnTo>
                    <a:pt x="4696902" y="0"/>
                  </a:lnTo>
                  <a:lnTo>
                    <a:pt x="4696902" y="4346232"/>
                  </a:lnTo>
                  <a:lnTo>
                    <a:pt x="0" y="434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415" t="-12336" r="-9682" b="-185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080767" y="0"/>
              <a:ext cx="8729037" cy="4708482"/>
            </a:xfrm>
            <a:custGeom>
              <a:avLst/>
              <a:gdLst/>
              <a:ahLst/>
              <a:cxnLst/>
              <a:rect l="l" t="t" r="r" b="b"/>
              <a:pathLst>
                <a:path w="8729037" h="4708482">
                  <a:moveTo>
                    <a:pt x="0" y="0"/>
                  </a:moveTo>
                  <a:lnTo>
                    <a:pt x="8729036" y="0"/>
                  </a:lnTo>
                  <a:lnTo>
                    <a:pt x="8729036" y="4708482"/>
                  </a:lnTo>
                  <a:lnTo>
                    <a:pt x="0" y="4708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11" r="-4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047147" y="806173"/>
            <a:ext cx="1341500" cy="1341500"/>
          </a:xfrm>
          <a:custGeom>
            <a:avLst/>
            <a:gdLst/>
            <a:ahLst/>
            <a:cxnLst/>
            <a:rect l="l" t="t" r="r" b="b"/>
            <a:pathLst>
              <a:path w="1341500" h="1341500">
                <a:moveTo>
                  <a:pt x="0" y="0"/>
                </a:moveTo>
                <a:lnTo>
                  <a:pt x="1341500" y="0"/>
                </a:lnTo>
                <a:lnTo>
                  <a:pt x="1341500" y="1341500"/>
                </a:lnTo>
                <a:lnTo>
                  <a:pt x="0" y="134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11013" y="308940"/>
            <a:ext cx="2334286" cy="2334286"/>
          </a:xfrm>
          <a:custGeom>
            <a:avLst/>
            <a:gdLst/>
            <a:ahLst/>
            <a:cxnLst/>
            <a:rect l="l" t="t" r="r" b="b"/>
            <a:pathLst>
              <a:path w="2334286" h="2334286">
                <a:moveTo>
                  <a:pt x="0" y="0"/>
                </a:moveTo>
                <a:lnTo>
                  <a:pt x="2334285" y="0"/>
                </a:lnTo>
                <a:lnTo>
                  <a:pt x="2334285" y="2334285"/>
                </a:lnTo>
                <a:lnTo>
                  <a:pt x="0" y="2334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403771" y="794967"/>
            <a:ext cx="1199908" cy="1343181"/>
          </a:xfrm>
          <a:custGeom>
            <a:avLst/>
            <a:gdLst/>
            <a:ahLst/>
            <a:cxnLst/>
            <a:rect l="l" t="t" r="r" b="b"/>
            <a:pathLst>
              <a:path w="1199908" h="1343181">
                <a:moveTo>
                  <a:pt x="0" y="0"/>
                </a:moveTo>
                <a:lnTo>
                  <a:pt x="1199908" y="0"/>
                </a:lnTo>
                <a:lnTo>
                  <a:pt x="1199908" y="1343181"/>
                </a:lnTo>
                <a:lnTo>
                  <a:pt x="0" y="13431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360181" y="6284716"/>
            <a:ext cx="295171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Team Name: NEXUS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29913" y="5630867"/>
            <a:ext cx="6608064" cy="4665819"/>
          </a:xfrm>
          <a:custGeom>
            <a:avLst/>
            <a:gdLst/>
            <a:ahLst/>
            <a:cxnLst/>
            <a:rect l="l" t="t" r="r" b="b"/>
            <a:pathLst>
              <a:path w="6608064" h="8415325">
                <a:moveTo>
                  <a:pt x="0" y="0"/>
                </a:moveTo>
                <a:lnTo>
                  <a:pt x="6608064" y="0"/>
                </a:lnTo>
                <a:lnTo>
                  <a:pt x="6608064" y="8415325"/>
                </a:lnTo>
                <a:lnTo>
                  <a:pt x="0" y="8415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6129" t="-236674" r="-108329" b="-8035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22"/>
          <p:cNvSpPr/>
          <p:nvPr/>
        </p:nvSpPr>
        <p:spPr>
          <a:xfrm>
            <a:off x="10284154" y="806173"/>
            <a:ext cx="1540743" cy="1409193"/>
          </a:xfrm>
          <a:custGeom>
            <a:avLst/>
            <a:gdLst/>
            <a:ahLst/>
            <a:cxnLst/>
            <a:rect l="l" t="t" r="r" b="b"/>
            <a:pathLst>
              <a:path w="1540743" h="1409193">
                <a:moveTo>
                  <a:pt x="0" y="0"/>
                </a:moveTo>
                <a:lnTo>
                  <a:pt x="1540744" y="0"/>
                </a:lnTo>
                <a:lnTo>
                  <a:pt x="1540744" y="1409193"/>
                </a:lnTo>
                <a:lnTo>
                  <a:pt x="0" y="1409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t="-173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4260730" y="806173"/>
            <a:ext cx="1480807" cy="1437732"/>
          </a:xfrm>
          <a:custGeom>
            <a:avLst/>
            <a:gdLst/>
            <a:ahLst/>
            <a:cxnLst/>
            <a:rect l="l" t="t" r="r" b="b"/>
            <a:pathLst>
              <a:path w="1480807" h="1437732">
                <a:moveTo>
                  <a:pt x="0" y="0"/>
                </a:moveTo>
                <a:lnTo>
                  <a:pt x="1480807" y="0"/>
                </a:lnTo>
                <a:lnTo>
                  <a:pt x="1480807" y="1437731"/>
                </a:lnTo>
                <a:lnTo>
                  <a:pt x="0" y="14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869" r="-3545" b="-2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CBECF1CE-150E-E718-DAC2-9A5E52CC05EB}"/>
              </a:ext>
            </a:extLst>
          </p:cNvPr>
          <p:cNvSpPr txBox="1"/>
          <p:nvPr/>
        </p:nvSpPr>
        <p:spPr>
          <a:xfrm>
            <a:off x="12221257" y="6085945"/>
            <a:ext cx="3825890" cy="397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Members Name and Affiliation:</a:t>
            </a:r>
            <a:endParaRPr lang="en-US" b="1" dirty="0">
              <a:solidFill>
                <a:srgbClr val="FFFFFF"/>
              </a:solidFill>
              <a:latin typeface="Cy Grotesk Wide Semi-Bold"/>
              <a:ea typeface="Cy Grotesk Wide Semi-Bold"/>
              <a:cs typeface="Cy Grotesk Wide Semi-Bold"/>
              <a:sym typeface="Cy Grotesk Wide Semi-Bold"/>
            </a:endParaRP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Sugandhan</a:t>
            </a:r>
            <a: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 A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Vigneshwar J R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Tharoon</a:t>
            </a:r>
            <a: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 M K</a:t>
            </a:r>
            <a:b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</a:br>
            <a: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Yazhini S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Elamathi S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Dharshini M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SKCET - Coimbatore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endParaRPr lang="en-US" sz="2945" b="1" dirty="0">
              <a:solidFill>
                <a:srgbClr val="FFFFFF"/>
              </a:solidFill>
              <a:latin typeface="Cy Grotesk Wide Semi-Bold"/>
              <a:ea typeface="Cy Grotesk Wide Semi-Bold"/>
              <a:cs typeface="Cy Grotesk Wide Semi-Bold"/>
              <a:sym typeface="Cy Grotesk Wide Semi-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/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D91AE1-965E-677C-F454-DA0BADCB1FB2}"/>
              </a:ext>
            </a:extLst>
          </p:cNvPr>
          <p:cNvSpPr txBox="1"/>
          <p:nvPr/>
        </p:nvSpPr>
        <p:spPr>
          <a:xfrm>
            <a:off x="1910056" y="1844093"/>
            <a:ext cx="13766277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Design an AI-powered cybersecurity firewall integrated with Generative AI-based threat modeling to dynamically generate adaptive security rules and detect evolving cyber threats within Zero Trust architectures.</a:t>
            </a:r>
          </a:p>
          <a:p>
            <a:br>
              <a:rPr lang="en-US" sz="2000" dirty="0">
                <a:solidFill>
                  <a:schemeClr val="bg1"/>
                </a:solidFill>
                <a:latin typeface="Horizon" panose="020B0604020202020204" charset="0"/>
              </a:rPr>
            </a:br>
            <a:endParaRPr lang="en-US" sz="3200" dirty="0">
              <a:solidFill>
                <a:schemeClr val="bg1"/>
              </a:solidFill>
              <a:latin typeface="Horizon" panose="020B0604020202020204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Horizon" panose="020B0604020202020204" charset="0"/>
              </a:rPr>
              <a:t>Expected Outcomes:</a:t>
            </a:r>
          </a:p>
          <a:p>
            <a:endParaRPr lang="en-US" sz="2000" dirty="0">
              <a:solidFill>
                <a:schemeClr val="bg1"/>
              </a:solidFill>
              <a:latin typeface="Horizon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AI-based anomaly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Generative threat intelligence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Dynamic security rule 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Automated Zero Trust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Improved enterprise security resilience</a:t>
            </a:r>
          </a:p>
          <a:p>
            <a:endParaRPr lang="en-US" dirty="0">
              <a:solidFill>
                <a:schemeClr val="bg1"/>
              </a:solidFill>
              <a:latin typeface="Horizon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B077D-DAB4-07F0-66C3-C1F04BD3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AB0F6FC-F22F-7E12-05C1-840B7EB5D63D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59E4E52-1FC5-5401-F49B-F762C5A07C11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SOLUTION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7D18EDCC-430D-6FF6-8A3D-6DB27344ED99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3D428E1-E21A-F829-0950-ECEEA47B9E92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616080-876E-C85C-46FF-5CD094E21496}"/>
              </a:ext>
            </a:extLst>
          </p:cNvPr>
          <p:cNvSpPr txBox="1"/>
          <p:nvPr/>
        </p:nvSpPr>
        <p:spPr>
          <a:xfrm>
            <a:off x="1910056" y="1844093"/>
            <a:ext cx="13766277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orizon" panose="020B0604020202020204" charset="0"/>
              </a:rPr>
              <a:t>Our Solution:  </a:t>
            </a:r>
            <a:r>
              <a:rPr lang="en-US" sz="2400" b="1" dirty="0" err="1">
                <a:solidFill>
                  <a:schemeClr val="bg1"/>
                </a:solidFill>
                <a:latin typeface="Horizon" panose="020B0604020202020204" charset="0"/>
              </a:rPr>
              <a:t>ZeroTrust</a:t>
            </a:r>
            <a:r>
              <a:rPr lang="en-US" sz="2400" b="1" dirty="0">
                <a:solidFill>
                  <a:schemeClr val="bg1"/>
                </a:solidFill>
                <a:latin typeface="Horizon" panose="020B0604020202020204" charset="0"/>
              </a:rPr>
              <a:t> AI</a:t>
            </a:r>
            <a:endParaRPr lang="en-US" sz="2400" dirty="0">
              <a:solidFill>
                <a:schemeClr val="bg1"/>
              </a:solidFill>
              <a:latin typeface="Horizon" panose="020B060402020202020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 Multi-Agent AI Firewall that detects, responds, and permanently hardens itself against every cyber threat — with Zero Trust enforced at every layer.</a:t>
            </a:r>
          </a:p>
          <a:p>
            <a:b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Horizon" panose="020B0604020202020204" charset="0"/>
              </a:rPr>
              <a:t>Four Autonomous AI Agents:</a:t>
            </a:r>
            <a:endParaRPr lang="en-US" sz="2400" dirty="0">
              <a:solidFill>
                <a:schemeClr val="bg1"/>
              </a:solidFill>
              <a:latin typeface="Horizon" panose="020B060402020202020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🐍 </a:t>
            </a: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Loki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 — Detects and classifies every packet using </a:t>
            </a:r>
            <a:r>
              <a:rPr lang="en-US" sz="24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XGBoost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ML + LLM reasoning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🎩 </a:t>
            </a: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Thomas Shelby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 — Generates proportional firewall rules based on trust score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🔪 </a:t>
            </a: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Dexter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 — Correlates attack patterns and maps to </a:t>
            </a:r>
            <a:r>
              <a:rPr lang="en-US" sz="2400">
                <a:solidFill>
                  <a:schemeClr val="bg1"/>
                </a:solidFill>
                <a:latin typeface="Arial Rounded MT Bold" panose="020F0704030504030204" pitchFamily="34" charset="0"/>
              </a:rPr>
              <a:t>MITRE ATT&amp;CK 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techniques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🌀 </a:t>
            </a: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Stephen</a:t>
            </a:r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 — Learns from every incident and permanently hardens the system</a:t>
            </a:r>
          </a:p>
          <a:p>
            <a:b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Horizon" panose="020B0604020202020204" charset="0"/>
              </a:rPr>
              <a:t>What Makes It Different:</a:t>
            </a:r>
            <a:endParaRPr lang="en-US" sz="2400" dirty="0">
              <a:solidFill>
                <a:schemeClr val="bg1"/>
              </a:solidFill>
              <a:latin typeface="Horizon" panose="020B060402020202020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✅ Hybrid ML + LLM intelligence — fast and explainable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✅ Self-improving — every attack makes the system stronger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✅ True Zero Trust — every device scored 0–100 based on behavior</a:t>
            </a:r>
          </a:p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✅ Human override — every AI decision is reviewable</a:t>
            </a:r>
          </a:p>
          <a:p>
            <a:b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sz="2400" i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"We didn't build a firewall that blocks attacks. We built a firewall that learns from them."</a:t>
            </a:r>
            <a:endParaRPr lang="en-US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b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US" sz="2400" b="1" dirty="0">
              <a:solidFill>
                <a:schemeClr val="bg1"/>
              </a:solidFill>
              <a:latin typeface="Arial Rounded MT Bold" panose="020F0704030504030204" pitchFamily="34" charset="0"/>
              <a:ea typeface="Arimo Bold"/>
              <a:cs typeface="Arimo Bold"/>
              <a:sym typeface="Arimo Bold"/>
            </a:endParaRPr>
          </a:p>
        </p:txBody>
      </p:sp>
    </p:spTree>
    <p:extLst>
      <p:ext uri="{BB962C8B-B14F-4D97-AF65-F5344CB8AC3E}">
        <p14:creationId xmlns:p14="http://schemas.microsoft.com/office/powerpoint/2010/main" val="101853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04D6B-3E65-77F0-C2C3-BF8F9CAE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422206C-2DB9-C265-721B-A747F0E345D9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10FDF8-5887-CC39-724A-B734BB4B0808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architecture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DF71C616-1981-D14F-7457-9FF40FCA5500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96D8A82-E4DA-F67F-D3EA-32E1A7CC6623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95B71F5-E82E-927D-5910-E4048020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81FBF3-0132-8159-75F4-FA2F81A70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63600" y="1600200"/>
            <a:ext cx="3810000" cy="7658100"/>
          </a:xfrm>
        </p:spPr>
        <p:txBody>
          <a:bodyPr>
            <a:normAutofit/>
          </a:bodyPr>
          <a:lstStyle/>
          <a:p>
            <a:endParaRPr lang="en-US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US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endParaRPr lang="en-US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885A0E-BD1E-425F-97EB-124D00F4B3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74" y="1770028"/>
            <a:ext cx="18288000" cy="851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93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5A241-4D30-26E2-773F-0ACAD9D0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4447F06-AB67-2128-B1DC-B57861969C75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C39FDC9-0795-3E87-2AA3-19411AEFFAD4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TECHNOLOGY USED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0913F65-1742-EBD2-1515-9C24D780C06A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F0BC03F-DCE5-5D44-9E9D-069B786C3EBF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0C335-7275-FE8D-5B68-A497E388B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20496"/>
              </p:ext>
            </p:extLst>
          </p:nvPr>
        </p:nvGraphicFramePr>
        <p:xfrm>
          <a:off x="2230984" y="1600200"/>
          <a:ext cx="12247017" cy="8707848"/>
        </p:xfrm>
        <a:graphic>
          <a:graphicData uri="http://schemas.openxmlformats.org/drawingml/2006/table">
            <a:tbl>
              <a:tblPr/>
              <a:tblGrid>
                <a:gridCol w="4082339">
                  <a:extLst>
                    <a:ext uri="{9D8B030D-6E8A-4147-A177-3AD203B41FA5}">
                      <a16:colId xmlns:a16="http://schemas.microsoft.com/office/drawing/2014/main" val="1105370358"/>
                    </a:ext>
                  </a:extLst>
                </a:gridCol>
                <a:gridCol w="4082339">
                  <a:extLst>
                    <a:ext uri="{9D8B030D-6E8A-4147-A177-3AD203B41FA5}">
                      <a16:colId xmlns:a16="http://schemas.microsoft.com/office/drawing/2014/main" val="793480670"/>
                    </a:ext>
                  </a:extLst>
                </a:gridCol>
                <a:gridCol w="4082339">
                  <a:extLst>
                    <a:ext uri="{9D8B030D-6E8A-4147-A177-3AD203B41FA5}">
                      <a16:colId xmlns:a16="http://schemas.microsoft.com/office/drawing/2014/main" val="1896932800"/>
                    </a:ext>
                  </a:extLst>
                </a:gridCol>
              </a:tblGrid>
              <a:tr h="321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Layer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Technology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Why We Used It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909642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🧠 ML Model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XGBoost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Fast, accurate threat classification on network packets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101142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🤖 LLM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Claude (Anthropic)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Contextual reasoning for uncertain threat decisions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178317"/>
                  </a:ext>
                </a:extLst>
              </a:tr>
              <a:tr h="592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📊 Dataset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UNSW-NB15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Real-world network intrusion training data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431590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⚙️ Backend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Python FastAPI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High-performance async REST API + SSE streaming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516052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🗄️ Database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SQLite + SQLAlchemy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Lightweight, persistent storage for all threat events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928190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🔄 Migrations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Alembic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Clean, version-controlled database schema management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20617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🔐 Auth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JWT Tokens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Secure role-based access for admin and analyst users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659234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📡 Streaming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Server-Sent Events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Real-time packet feed to dashboard — zero polling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937452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🖥️ Frontend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Next.js 14 + React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Fast, real-time dashboard with live data rendering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204816"/>
                  </a:ext>
                </a:extLst>
              </a:tr>
              <a:tr h="797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📈 Charts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Recharts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Threat timeline, traffic heatmap, trust score gauge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52439"/>
                  </a:ext>
                </a:extLst>
              </a:tr>
              <a:tr h="592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🛡️ Security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iptables Commands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Actual firewall rule generation at OS level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887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01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7D5A6-CB2F-3BDD-73A1-D36AF9EE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30FDB0F-A61E-6FD3-8961-74C3ECF85D6A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2531482-6D9F-CEB9-EA73-3D0716E21B8F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FEATURE / USP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E1E6DEF-BD2B-31DD-0C9D-D1E37420C9AF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E83FB86B-92EC-EF06-889A-9039B4102C65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D2C0A1-D2D4-2E29-9D09-8F54178F4FDB}"/>
              </a:ext>
            </a:extLst>
          </p:cNvPr>
          <p:cNvSpPr txBox="1"/>
          <p:nvPr/>
        </p:nvSpPr>
        <p:spPr>
          <a:xfrm>
            <a:off x="1910056" y="1844093"/>
            <a:ext cx="13766277" cy="815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🧠 </a:t>
            </a:r>
            <a:r>
              <a:rPr lang="en-US" b="1" dirty="0">
                <a:solidFill>
                  <a:schemeClr val="bg1"/>
                </a:solidFill>
                <a:latin typeface="Horizon" panose="020B0604020202020204" charset="0"/>
              </a:rPr>
              <a:t>Hybrid ML + LLM Intelligence </a:t>
            </a:r>
          </a:p>
          <a:p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XGBoost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classifies threats in milliseconds. Claude LLM is called only when the model is uncertain — making the system both fast and explainable.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orizon" panose="020B0604020202020204" charset="0"/>
              </a:rPr>
              <a:t>🤖 </a:t>
            </a:r>
            <a:r>
              <a:rPr lang="en-US" b="1" dirty="0">
                <a:solidFill>
                  <a:schemeClr val="bg1"/>
                </a:solidFill>
                <a:latin typeface="Horizon" panose="020B0604020202020204" charset="0"/>
              </a:rPr>
              <a:t>Four Specialized AI Agents</a:t>
            </a:r>
            <a:r>
              <a:rPr lang="en-US" dirty="0">
                <a:solidFill>
                  <a:schemeClr val="bg1"/>
                </a:solidFill>
                <a:latin typeface="Horizon" panose="020B0604020202020204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Loki, Thomas Shelby, Dexter and Stephen each own one job — detection, response, correlation and healing. No single point of failure.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🔐 </a:t>
            </a:r>
            <a:r>
              <a:rPr lang="en-US" b="1" dirty="0">
                <a:solidFill>
                  <a:schemeClr val="bg1"/>
                </a:solidFill>
                <a:latin typeface="Horizon" panose="020B0604020202020204" charset="0"/>
              </a:rPr>
              <a:t>True Zero Trust Enforcement</a:t>
            </a:r>
            <a:r>
              <a:rPr lang="en-US" dirty="0">
                <a:solidFill>
                  <a:schemeClr val="bg1"/>
                </a:solidFill>
                <a:latin typeface="Horizon" panose="020B0604020202020204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Every device starts at trust score 100. Score decays with every threat. Response is always proportional — monitor, rate-limit, block or escalate.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orizon" panose="020B0604020202020204" charset="0"/>
              </a:rPr>
              <a:t>⛓️ </a:t>
            </a:r>
            <a:r>
              <a:rPr lang="en-US" b="1" dirty="0">
                <a:solidFill>
                  <a:schemeClr val="bg1"/>
                </a:solidFill>
                <a:latin typeface="Horizon" panose="020B0604020202020204" charset="0"/>
              </a:rPr>
              <a:t>MITRE ATT&amp;CK </a:t>
            </a:r>
          </a:p>
          <a:p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Mapping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Dexter maps live attack patterns to real MITRE techniques and predicts the next attack stage — turning reactive defense into proactive protection.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🔧 </a:t>
            </a:r>
            <a:r>
              <a:rPr lang="en-US" b="1" dirty="0">
                <a:solidFill>
                  <a:schemeClr val="bg1"/>
                </a:solidFill>
                <a:latin typeface="Horizon" panose="020B0604020202020204" charset="0"/>
              </a:rPr>
              <a:t>Self-Improving System</a:t>
            </a:r>
            <a:r>
              <a:rPr lang="en-US" dirty="0">
                <a:solidFill>
                  <a:schemeClr val="bg1"/>
                </a:solidFill>
                <a:latin typeface="Horizon" panose="020B0604020202020204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Stephen analyzes every resolved incident, writes permanent rules and raises the system health score. Every attack makes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ZeroTrust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AI harder to beat.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👤 </a:t>
            </a:r>
            <a:r>
              <a:rPr lang="en-US" b="1" dirty="0">
                <a:solidFill>
                  <a:schemeClr val="bg1"/>
                </a:solidFill>
                <a:latin typeface="Horizon" panose="020B0604020202020204" charset="0"/>
              </a:rPr>
              <a:t>Human-in-the-Loop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Every AI-generated firewall rule can be approved or rejected by a human operator — responsible AI at every decision point.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📡 </a:t>
            </a:r>
            <a:r>
              <a:rPr lang="en-US" b="1" dirty="0">
                <a:solidFill>
                  <a:schemeClr val="bg1"/>
                </a:solidFill>
                <a:latin typeface="Horizon" panose="020B0604020202020204" charset="0"/>
              </a:rPr>
              <a:t>Real-Time Dashboard</a:t>
            </a:r>
            <a:r>
              <a:rPr lang="en-US" dirty="0">
                <a:solidFill>
                  <a:schemeClr val="bg1"/>
                </a:solidFill>
                <a:latin typeface="Horizon" panose="020B0604020202020204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Live packet feed, trust score tracking, threat timeline, traffic heatmap and MITRE chain visualization — all updating every 500ms.</a:t>
            </a:r>
          </a:p>
          <a:p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US" i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"Not just a firewall. A self-evolving AI security system </a:t>
            </a:r>
            <a:r>
              <a:rPr lang="en-US" sz="2000" i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that gets stronger with every attack."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77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8126B-125D-0EFD-2E05-8E07BD11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FBFA6D5-B478-8C27-69F3-885898AF27D6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005A458-B660-BF69-5BEA-2E505385C354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References / links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548C07C-5762-9153-B107-3B13CFB35F6C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27A3264-E013-568F-B86C-03F63AE20D99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43BA55-B020-1E63-2E04-F06A276F6E8D}"/>
              </a:ext>
            </a:extLst>
          </p:cNvPr>
          <p:cNvSpPr txBox="1"/>
          <p:nvPr/>
        </p:nvSpPr>
        <p:spPr>
          <a:xfrm>
            <a:off x="1910056" y="1844093"/>
            <a:ext cx="13766277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📂 Project Repository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https://github.com/ASugandhan/GenAI_KPR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b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📚 Dataset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UNSW-NB15 Network Intrusion Dataset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https://research.unsw.edu.au/projects/unsw-nb15-dataset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b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🤖 AI &amp; APIs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Anthropic Claude API —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https://docs.anthropic.com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</a:t>
            </a:r>
            <a:r>
              <a:rPr lang="en-IN" sz="2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XGBoost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Documentation —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https://xgboost.readthedocs.io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b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🛡️ Security Frameworks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MITRE ATT&amp;CK Framework —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https://attack.mitre.org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NIST Zero Trust Architecture —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https://www.nist.gov/publications/zero-trust-architecture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b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⚙️ Core Frameworks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</a:t>
            </a:r>
            <a:r>
              <a:rPr lang="en-IN" sz="2800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FastAPI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—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https://fastapi.tiangolo.com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🔗 Next.js — </a:t>
            </a:r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https://nextjs.org/docs</a:t>
            </a:r>
            <a:endParaRPr lang="en-IN" sz="2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80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C134C-CA76-06ED-1963-F0E58D879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560ABAF-1A19-B0EC-0E94-E3E52126FB07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89584E8-6C3F-0B26-F3CC-A43B1C6E8E9A}"/>
              </a:ext>
            </a:extLst>
          </p:cNvPr>
          <p:cNvGrpSpPr/>
          <p:nvPr/>
        </p:nvGrpSpPr>
        <p:grpSpPr>
          <a:xfrm>
            <a:off x="420283" y="1638300"/>
            <a:ext cx="17447434" cy="1973484"/>
            <a:chOff x="0" y="0"/>
            <a:chExt cx="4351475" cy="49219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E73A9F6-BB79-5A94-3BB1-86921B34FEAC}"/>
                </a:ext>
              </a:extLst>
            </p:cNvPr>
            <p:cNvSpPr/>
            <p:nvPr/>
          </p:nvSpPr>
          <p:spPr>
            <a:xfrm>
              <a:off x="0" y="0"/>
              <a:ext cx="4351475" cy="492196"/>
            </a:xfrm>
            <a:custGeom>
              <a:avLst/>
              <a:gdLst/>
              <a:ahLst/>
              <a:cxnLst/>
              <a:rect l="l" t="t" r="r" b="b"/>
              <a:pathLst>
                <a:path w="4351475" h="492196">
                  <a:moveTo>
                    <a:pt x="44373" y="0"/>
                  </a:moveTo>
                  <a:lnTo>
                    <a:pt x="4307102" y="0"/>
                  </a:lnTo>
                  <a:cubicBezTo>
                    <a:pt x="4318870" y="0"/>
                    <a:pt x="4330157" y="4675"/>
                    <a:pt x="4338479" y="12997"/>
                  </a:cubicBezTo>
                  <a:cubicBezTo>
                    <a:pt x="4346800" y="21318"/>
                    <a:pt x="4351475" y="32604"/>
                    <a:pt x="4351475" y="44373"/>
                  </a:cubicBezTo>
                  <a:lnTo>
                    <a:pt x="4351475" y="447824"/>
                  </a:lnTo>
                  <a:cubicBezTo>
                    <a:pt x="4351475" y="459592"/>
                    <a:pt x="4346800" y="470878"/>
                    <a:pt x="4338479" y="479200"/>
                  </a:cubicBezTo>
                  <a:cubicBezTo>
                    <a:pt x="4330157" y="487522"/>
                    <a:pt x="4318870" y="492196"/>
                    <a:pt x="4307102" y="492196"/>
                  </a:cubicBezTo>
                  <a:lnTo>
                    <a:pt x="44373" y="492196"/>
                  </a:lnTo>
                  <a:cubicBezTo>
                    <a:pt x="32604" y="492196"/>
                    <a:pt x="21318" y="487522"/>
                    <a:pt x="12997" y="479200"/>
                  </a:cubicBezTo>
                  <a:cubicBezTo>
                    <a:pt x="4675" y="470878"/>
                    <a:pt x="0" y="459592"/>
                    <a:pt x="0" y="447824"/>
                  </a:cubicBezTo>
                  <a:lnTo>
                    <a:pt x="0" y="44373"/>
                  </a:lnTo>
                  <a:cubicBezTo>
                    <a:pt x="0" y="32604"/>
                    <a:pt x="4675" y="21318"/>
                    <a:pt x="12997" y="12997"/>
                  </a:cubicBezTo>
                  <a:cubicBezTo>
                    <a:pt x="21318" y="4675"/>
                    <a:pt x="32604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  <a:ln w="38100" cap="rnd">
              <a:solidFill>
                <a:srgbClr val="E47F42">
                  <a:alpha val="3490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FC01D0A-E1D8-3BA6-A12F-807FC7A837A8}"/>
                </a:ext>
              </a:extLst>
            </p:cNvPr>
            <p:cNvSpPr txBox="1"/>
            <p:nvPr/>
          </p:nvSpPr>
          <p:spPr>
            <a:xfrm>
              <a:off x="0" y="-47625"/>
              <a:ext cx="4351475" cy="539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F09403E-B3C6-F429-69CD-57B20953B3BE}"/>
              </a:ext>
            </a:extLst>
          </p:cNvPr>
          <p:cNvSpPr/>
          <p:nvPr/>
        </p:nvSpPr>
        <p:spPr>
          <a:xfrm>
            <a:off x="7747368" y="1638300"/>
            <a:ext cx="2218659" cy="1890160"/>
          </a:xfrm>
          <a:custGeom>
            <a:avLst/>
            <a:gdLst/>
            <a:ahLst/>
            <a:cxnLst/>
            <a:rect l="l" t="t" r="r" b="b"/>
            <a:pathLst>
              <a:path w="2218659" h="1890160">
                <a:moveTo>
                  <a:pt x="0" y="0"/>
                </a:moveTo>
                <a:lnTo>
                  <a:pt x="2218659" y="0"/>
                </a:lnTo>
                <a:lnTo>
                  <a:pt x="2218659" y="1890160"/>
                </a:lnTo>
                <a:lnTo>
                  <a:pt x="0" y="1890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7B59C9B-65DC-FE94-F3B2-88EC5DBFB950}"/>
              </a:ext>
            </a:extLst>
          </p:cNvPr>
          <p:cNvSpPr/>
          <p:nvPr/>
        </p:nvSpPr>
        <p:spPr>
          <a:xfrm>
            <a:off x="6192802" y="1979694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133FA8-8CA7-7538-0DFD-0B6252C4FE1E}"/>
              </a:ext>
            </a:extLst>
          </p:cNvPr>
          <p:cNvSpPr/>
          <p:nvPr/>
        </p:nvSpPr>
        <p:spPr>
          <a:xfrm>
            <a:off x="2640480" y="2095500"/>
            <a:ext cx="1247279" cy="1046956"/>
          </a:xfrm>
          <a:custGeom>
            <a:avLst/>
            <a:gdLst/>
            <a:ahLst/>
            <a:cxnLst/>
            <a:rect l="l" t="t" r="r" b="b"/>
            <a:pathLst>
              <a:path w="1105101" h="771461">
                <a:moveTo>
                  <a:pt x="0" y="0"/>
                </a:moveTo>
                <a:lnTo>
                  <a:pt x="1105101" y="0"/>
                </a:lnTo>
                <a:lnTo>
                  <a:pt x="1105101" y="771461"/>
                </a:lnTo>
                <a:lnTo>
                  <a:pt x="0" y="771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642" r="-63095" b="-479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71C0389-C087-6BDF-47A2-1B68981FFCF9}"/>
              </a:ext>
            </a:extLst>
          </p:cNvPr>
          <p:cNvSpPr/>
          <p:nvPr/>
        </p:nvSpPr>
        <p:spPr>
          <a:xfrm>
            <a:off x="14054012" y="1854241"/>
            <a:ext cx="1677177" cy="1674219"/>
          </a:xfrm>
          <a:custGeom>
            <a:avLst/>
            <a:gdLst/>
            <a:ahLst/>
            <a:cxnLst/>
            <a:rect l="l" t="t" r="r" b="b"/>
            <a:pathLst>
              <a:path w="1677177" h="1674219">
                <a:moveTo>
                  <a:pt x="0" y="0"/>
                </a:moveTo>
                <a:lnTo>
                  <a:pt x="1677178" y="0"/>
                </a:lnTo>
                <a:lnTo>
                  <a:pt x="1677178" y="1674219"/>
                </a:lnTo>
                <a:lnTo>
                  <a:pt x="0" y="1674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36" t="-507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5C3A55C2-75B1-DA62-3A80-950C405B9E2B}"/>
              </a:ext>
            </a:extLst>
          </p:cNvPr>
          <p:cNvSpPr/>
          <p:nvPr/>
        </p:nvSpPr>
        <p:spPr>
          <a:xfrm>
            <a:off x="15983130" y="1925326"/>
            <a:ext cx="1341500" cy="1341500"/>
          </a:xfrm>
          <a:custGeom>
            <a:avLst/>
            <a:gdLst/>
            <a:ahLst/>
            <a:cxnLst/>
            <a:rect l="l" t="t" r="r" b="b"/>
            <a:pathLst>
              <a:path w="1341500" h="1341500">
                <a:moveTo>
                  <a:pt x="0" y="0"/>
                </a:moveTo>
                <a:lnTo>
                  <a:pt x="1341500" y="0"/>
                </a:lnTo>
                <a:lnTo>
                  <a:pt x="1341500" y="1341500"/>
                </a:lnTo>
                <a:lnTo>
                  <a:pt x="0" y="134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B18C9F32-5FE9-EB12-0961-80E99DB7A12D}"/>
              </a:ext>
            </a:extLst>
          </p:cNvPr>
          <p:cNvSpPr/>
          <p:nvPr/>
        </p:nvSpPr>
        <p:spPr>
          <a:xfrm>
            <a:off x="546996" y="1428093"/>
            <a:ext cx="2334286" cy="2334286"/>
          </a:xfrm>
          <a:custGeom>
            <a:avLst/>
            <a:gdLst/>
            <a:ahLst/>
            <a:cxnLst/>
            <a:rect l="l" t="t" r="r" b="b"/>
            <a:pathLst>
              <a:path w="2334286" h="2334286">
                <a:moveTo>
                  <a:pt x="0" y="0"/>
                </a:moveTo>
                <a:lnTo>
                  <a:pt x="2334285" y="0"/>
                </a:lnTo>
                <a:lnTo>
                  <a:pt x="2334285" y="2334285"/>
                </a:lnTo>
                <a:lnTo>
                  <a:pt x="0" y="2334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36AD78C3-D308-F0E5-18D9-3A58E39DB598}"/>
              </a:ext>
            </a:extLst>
          </p:cNvPr>
          <p:cNvSpPr/>
          <p:nvPr/>
        </p:nvSpPr>
        <p:spPr>
          <a:xfrm>
            <a:off x="12339754" y="1914120"/>
            <a:ext cx="1199908" cy="1343181"/>
          </a:xfrm>
          <a:custGeom>
            <a:avLst/>
            <a:gdLst/>
            <a:ahLst/>
            <a:cxnLst/>
            <a:rect l="l" t="t" r="r" b="b"/>
            <a:pathLst>
              <a:path w="1199908" h="1343181">
                <a:moveTo>
                  <a:pt x="0" y="0"/>
                </a:moveTo>
                <a:lnTo>
                  <a:pt x="1199908" y="0"/>
                </a:lnTo>
                <a:lnTo>
                  <a:pt x="1199908" y="1343181"/>
                </a:lnTo>
                <a:lnTo>
                  <a:pt x="0" y="13431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549920B4-6D0D-FABF-FD18-D12C4F6D0650}"/>
              </a:ext>
            </a:extLst>
          </p:cNvPr>
          <p:cNvSpPr/>
          <p:nvPr/>
        </p:nvSpPr>
        <p:spPr>
          <a:xfrm>
            <a:off x="10220137" y="1925326"/>
            <a:ext cx="1540743" cy="1409193"/>
          </a:xfrm>
          <a:custGeom>
            <a:avLst/>
            <a:gdLst/>
            <a:ahLst/>
            <a:cxnLst/>
            <a:rect l="l" t="t" r="r" b="b"/>
            <a:pathLst>
              <a:path w="1540743" h="1409193">
                <a:moveTo>
                  <a:pt x="0" y="0"/>
                </a:moveTo>
                <a:lnTo>
                  <a:pt x="1540744" y="0"/>
                </a:lnTo>
                <a:lnTo>
                  <a:pt x="1540744" y="1409193"/>
                </a:lnTo>
                <a:lnTo>
                  <a:pt x="0" y="1409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90" t="-173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773062BA-853E-4B52-EC0F-114DE1C52802}"/>
              </a:ext>
            </a:extLst>
          </p:cNvPr>
          <p:cNvSpPr/>
          <p:nvPr/>
        </p:nvSpPr>
        <p:spPr>
          <a:xfrm>
            <a:off x="4196713" y="1925326"/>
            <a:ext cx="1480807" cy="1437732"/>
          </a:xfrm>
          <a:custGeom>
            <a:avLst/>
            <a:gdLst/>
            <a:ahLst/>
            <a:cxnLst/>
            <a:rect l="l" t="t" r="r" b="b"/>
            <a:pathLst>
              <a:path w="1480807" h="1437732">
                <a:moveTo>
                  <a:pt x="0" y="0"/>
                </a:moveTo>
                <a:lnTo>
                  <a:pt x="1480807" y="0"/>
                </a:lnTo>
                <a:lnTo>
                  <a:pt x="1480807" y="1437731"/>
                </a:lnTo>
                <a:lnTo>
                  <a:pt x="0" y="14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869" r="-3545" b="-2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5C872B-9AB9-428E-7CDA-D6BDAA0B175D}"/>
              </a:ext>
            </a:extLst>
          </p:cNvPr>
          <p:cNvSpPr/>
          <p:nvPr/>
        </p:nvSpPr>
        <p:spPr>
          <a:xfrm>
            <a:off x="5383676" y="4681835"/>
            <a:ext cx="752064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cap="none" spc="0" dirty="0">
                <a:ln w="22225">
                  <a:noFill/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26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725</Words>
  <Application>Microsoft Office PowerPoint</Application>
  <PresentationFormat>Custom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Cy Grotesk Wide Semi-Bold</vt:lpstr>
      <vt:lpstr>Arial Rounded MT Bold</vt:lpstr>
      <vt:lpstr>Horizon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Copy of Copy of India innovates</dc:title>
  <dc:creator>DEVAANSH</dc:creator>
  <cp:lastModifiedBy>Elamathi Shanmugam</cp:lastModifiedBy>
  <cp:revision>15</cp:revision>
  <dcterms:created xsi:type="dcterms:W3CDTF">2006-08-16T00:00:00Z</dcterms:created>
  <dcterms:modified xsi:type="dcterms:W3CDTF">2026-03-10T05:46:34Z</dcterms:modified>
  <dc:identifier>DAHB9eJZGBc</dc:identifier>
</cp:coreProperties>
</file>